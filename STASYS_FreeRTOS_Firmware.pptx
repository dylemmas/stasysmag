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STASYS 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Calibri"/>
              </a:defRPr>
            </a:pPr>
            <a:r>
              <a:t>FreeRTOS on ESP32 — Dual-Task Architecture for Real-Time Sensor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D99A7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8D99A7"/>
                </a:solidFill>
                <a:latin typeface="Calibri"/>
              </a:defRPr>
            </a:pPr>
            <a:r>
              <a:t>Hardware: ESP32 DEVKITV1 + MPU6050 + QMC5883P + Piezo Sensor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8D99A7"/>
                </a:solidFill>
                <a:latin typeface="Calibri"/>
              </a:defRPr>
            </a:pPr>
            <a:r>
              <a:t>Data Rate: 100 Hz Bluetooth packet stream (1 kHz internal sampling)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8D99A7"/>
                </a:solidFill>
                <a:latin typeface="Calibri"/>
              </a:defRPr>
            </a:pPr>
            <a:r>
              <a:t>Tasks: sensorTask (Core 1) + batteryMonitorTask (Core 0)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8D99A7"/>
                </a:solidFill>
                <a:latin typeface="Calibri"/>
              </a:defRPr>
            </a:pPr>
            <a:r>
              <a:t>Protocol: SHA-256 challenge-response auth, 36-byte binary packets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748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⚙ 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0D1B2A"/>
                </a:solidFill>
                <a:latin typeface="Calibri"/>
              </a:defRPr>
            </a:pPr>
            <a:r>
              <a:t>📦  MCU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ESP32 DEVKITV1 @ 240 MHz — Dual-core Xtensa LX6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0D1B2A"/>
                </a:solidFill>
                <a:latin typeface="Calibri"/>
              </a:defRPr>
            </a:pPr>
            <a:r>
              <a:t>📡  IMU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MPU6050 — 3-axis accel (4G) + 3-axis gyro (500 dps)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0D1B2A"/>
                </a:solidFill>
                <a:latin typeface="Calibri"/>
              </a:defRPr>
            </a:pPr>
            <a:r>
              <a:t>⛽  Magnetometer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QMC5883P — ±30 Gauss, 16-bit, continuous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0D1B2A"/>
                </a:solidFill>
                <a:latin typeface="Calibri"/>
              </a:defRPr>
            </a:pPr>
            <a:r>
              <a:t>🔊  Piezo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ADC1_CH7 (GPIO35) — Impact / trigger-sound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0D1B2A"/>
                </a:solidFill>
                <a:latin typeface="Calibri"/>
              </a:defRPr>
            </a:pPr>
            <a:r>
              <a:t>🔋  Battery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Li-Ion 3.7V + TP4056 — Voltage divider -&gt; GPIO39 (ADC)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0D1B2A"/>
                </a:solidFill>
                <a:latin typeface="Calibri"/>
              </a:defRPr>
            </a:pPr>
            <a:r>
              <a:t>⚙️  Transport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Bluetooth Classic SPP — 115200 baud, 36-byte binary packets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394960" cy="5303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🚀  Why FreeRTOS?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Deterministic task scheduling for real-time sensor sampling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Dual-core affinity pins tasks to specific CPU cores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Lightweight tasks with dedicated stacks (4096 / 2048 bytes)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Cooperative + pre-emptive scheduling (priority-based)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Shared memory via volatile globals across task boundary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vTaskDelay for precise timing without busy-waiting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Native Arduino-ESP32 integration — no extra SDK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FreeRTOS Task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937760" cy="50292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①  Core 0  (Bluetooth + Power)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06D6A0"/>
                </a:solidFill>
                <a:latin typeface="Calibri"/>
              </a:defRPr>
            </a:pPr>
            <a:r>
              <a:t>batteryMonitorTask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Stack: 2048 bytes | Priority: 1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Polls ADC every 2 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Voltage -&gt; percentage conversion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Updates shared volatile batteryPercentage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Only propagates when delta &gt;= 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5394960" cy="50292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②  Core 1  (Sensor + Bluetooth 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00B4D8"/>
                </a:solidFill>
                <a:latin typeface="Calibri"/>
              </a:defRPr>
            </a:pPr>
            <a:r>
              <a:t>sensorTask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Stack: 4096 bytes | Priority: 1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I2C burst reads at 1 kHz (10x oversampling)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Peak accel / peak piezo extraction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Average gyro for clean trace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Mag read once per 10 ms packet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Challenge-response auth flow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XOR checksum packet assembly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Transmits 36-byte DataPacket over BT SPP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748"/>
                </a:solidFill>
                <a:latin typeface="Calibri"/>
              </a:defRPr>
            </a:pPr>
            <a:r>
              <a:t>FreeRTOS Task Creation &amp;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6583680" cy="2743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Task Creation  (setup function)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217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xTaskCreatePinnedToCore(     // Sensor task on Core 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"sensorTask",               /* task name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4096,                       /* stack words (bytes / 4)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NULL,                       /* parameter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1,                          /* priority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NULL,                       /* handle (unused)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1);                         /* pin to Core 1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00B4D8"/>
                </a:solidFill>
                <a:latin typeface="Calibri"/>
              </a:defRPr>
            </a:pPr>
            <a:r>
              <a:t>                          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xTaskCreatePinnedToCore(     // Battery task on Core 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"BatMonitor",               /* task name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2048,                       /* stack size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NULL,                       /* parameter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1,                          /* priority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NULL,                       /* handle */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0);                         /* pin to Core 0 */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097280"/>
            <a:ext cx="411480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1887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3E6A"/>
                </a:solidFill>
                <a:latin typeface="Calibri"/>
              </a:defRPr>
            </a:pPr>
            <a:r>
              <a:t>Key Parameters Explained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55448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200" b="1">
                <a:solidFill>
                  <a:srgbClr val="06D6A0"/>
                </a:solidFill>
                <a:latin typeface="Calibri"/>
              </a:defRPr>
            </a:pPr>
            <a:r>
              <a:t>▸  Task Name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 Debug/RTOS trace identifier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06D6A0"/>
                </a:solidFill>
                <a:latin typeface="Calibri"/>
              </a:defRPr>
            </a:pPr>
            <a:r>
              <a:t>▸  Stack Size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 Heap words allocated per task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06D6A0"/>
                </a:solidFill>
                <a:latin typeface="Calibri"/>
              </a:defRPr>
            </a:pPr>
            <a:r>
              <a:t>▸  Priority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 0 = lowest; higher = preempts lower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06D6A0"/>
                </a:solidFill>
                <a:latin typeface="Calibri"/>
              </a:defRPr>
            </a:pPr>
            <a:r>
              <a:t>▸  Core ID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   0 = Core 0, 1 = Core 1 (affinity)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64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⏱  Timing Configuration Constants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2D3748"/>
                </a:solidFill>
                <a:latin typeface="Calibri"/>
              </a:defRPr>
            </a:pPr>
            <a:r>
              <a:t>SEND_RATE_MS              =           10   —  Packet send interval (100 Hz output rate)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303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2D3748"/>
                </a:solidFill>
                <a:latin typeface="Calibri"/>
              </a:defRPr>
            </a:pPr>
            <a:r>
              <a:t>OVERSAMPLE_LOOPS          =           10   —  I2C + ADC reads per packet (1 kHz internal)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2297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2D3748"/>
                </a:solidFill>
                <a:latin typeface="Calibri"/>
              </a:defRPr>
            </a:pPr>
            <a:r>
              <a:t>CPU_FREQ_MHZ              =          240   —  ESP32 max clock speed for timing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1558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2D3748"/>
                </a:solidFill>
                <a:latin typeface="Calibri"/>
              </a:defRPr>
            </a:pPr>
            <a:r>
              <a:t>Stack (sensorTask)        =   4096 bytes   —  Sufficient for I2C buffers + packet assembly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2D3748"/>
                </a:solidFill>
                <a:latin typeface="Calibri"/>
              </a:defRPr>
            </a:pPr>
            <a:r>
              <a:t>Stack (batteryMonitorTask) =   2048 bytes   —  Minimal: only ADC read + math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sensorTask — The 1 kHz Sampling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6858000" cy="5486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Loop Flow (every 10 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1. Auth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2. 1 kHz Oversampling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3. Magnetometer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35508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4. Packet Assembly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8580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5. XOR Checksum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36092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6. BT Transmission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097280"/>
            <a:ext cx="3931920" cy="548640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188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alibri"/>
              </a:defRPr>
            </a:pPr>
            <a:r>
              <a:t>📊  Key RTOS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64592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200" b="1">
                <a:solidFill>
                  <a:srgbClr val="00B4D8"/>
                </a:solidFill>
                <a:latin typeface="Calibri"/>
              </a:defRPr>
            </a:pPr>
            <a:r>
              <a:t>Peak Extraction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jerk-based shock detection in</a:t>
            </a:r>
            <a:br/>
            <a:r>
              <a:t>oversampling window</a:t>
            </a:r>
          </a:p>
          <a:p>
            <a:pPr algn="l">
              <a:spcBef>
                <a:spcPts val="800"/>
              </a:spcBef>
              <a:defRPr sz="1200" b="1">
                <a:solidFill>
                  <a:srgbClr val="00B4D8"/>
                </a:solidFill>
                <a:latin typeface="Calibri"/>
              </a:defRPr>
            </a:pPr>
            <a:r>
              <a:t>Gyro Averaging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Sum/10 smooths high-frequency</a:t>
            </a:r>
            <a:br/>
            <a:r>
              <a:t>noise for stable trace</a:t>
            </a:r>
          </a:p>
          <a:p>
            <a:pPr algn="l">
              <a:spcBef>
                <a:spcPts val="800"/>
              </a:spcBef>
              <a:defRPr sz="1200" b="1">
                <a:solidFill>
                  <a:srgbClr val="00B4D8"/>
                </a:solidFill>
                <a:latin typeface="Calibri"/>
              </a:defRPr>
            </a:pPr>
            <a:r>
              <a:t>Volatile Shared State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isAuthenticated, batteryPercentage</a:t>
            </a:r>
            <a:br/>
            <a:r>
              <a:t>safely read across task boundary</a:t>
            </a:r>
          </a:p>
          <a:p>
            <a:pPr algn="l">
              <a:spcBef>
                <a:spcPts val="800"/>
              </a:spcBef>
              <a:defRPr sz="1200" b="1">
                <a:solidFill>
                  <a:srgbClr val="00B4D8"/>
                </a:solidFill>
                <a:latin typeface="Calibri"/>
              </a:defRPr>
            </a:pPr>
            <a:r>
              <a:t>Blocking BT Write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SerialBT.write() blocks → naturally</a:t>
            </a:r>
            <a:br/>
            <a:r>
              <a:t>enforces 100 Hz output rate</a:t>
            </a:r>
          </a:p>
          <a:p>
            <a:pPr algn="l">
              <a:spcBef>
                <a:spcPts val="800"/>
              </a:spcBef>
              <a:defRPr sz="1200" b="1">
                <a:solidFill>
                  <a:srgbClr val="00B4D8"/>
                </a:solidFill>
                <a:latin typeface="Calibri"/>
              </a:defRPr>
            </a:pPr>
            <a:r>
              <a:t>Pin-to-Core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D99A7"/>
                </a:solidFill>
                <a:latin typeface="Calibri"/>
              </a:defRPr>
            </a:pPr>
            <a:r>
              <a:t>pinned to Core 1 avoids contention</a:t>
            </a:r>
            <a:br/>
            <a:r>
              <a:t>with BT stack on Core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748"/>
                </a:solidFill>
                <a:latin typeface="Calibri"/>
              </a:defRPr>
            </a:pPr>
            <a:r>
              <a:t>batteryMonitorTask — Core 0 Background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FF6B35"/>
                </a:solidFill>
                <a:latin typeface="Calibri"/>
              </a:defRPr>
            </a:pPr>
            <a:r>
              <a:t>void batteryMonitorTask(void *parameter) {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int lastReportedVal = -1;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for (;;) {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float v = readBatteryVoltage();        // 16-sample ADC avg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int pct = calculateBatteryPercentage(v); // linear scale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if (lastReportedVal == -1 ||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    abs(pct - lastReportedVal) &gt;= 2) {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  batteryPercentage = pct;            // volatile write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  lastReportedVal = pct;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}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vTaskDelay(2000 / portTICK_PERIOD_MS); // 2 s period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}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6B35"/>
                </a:solidFill>
                <a:latin typeface="Calibri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FreeRTOS Design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300" b="1">
                <a:solidFill>
                  <a:srgbClr val="00B4D8"/>
                </a:solidFill>
                <a:latin typeface="Calibri"/>
              </a:defRPr>
            </a:pPr>
            <a:r>
              <a:t>Infinite For-Loop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Standard FreeRTOS task pattern — tasks never return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0B4D8"/>
                </a:solidFill>
                <a:latin typeface="Calibri"/>
              </a:defRPr>
            </a:pPr>
            <a:r>
              <a:t>vTaskDelay()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Yields CPU for 2 s; no busy-wait; Core 0 idle otherwise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0B4D8"/>
                </a:solidFill>
                <a:latin typeface="Calibri"/>
              </a:defRPr>
            </a:pPr>
            <a:r>
              <a:t>Shared Volatile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batteryPercentage is volatile int — safe cross-task read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0B4D8"/>
                </a:solidFill>
                <a:latin typeface="Calibri"/>
              </a:defRPr>
            </a:pPr>
            <a:r>
              <a:t>Delta Threshold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Only updates when change &gt;= 2% — reduces unnecessary writes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0B4D8"/>
                </a:solidFill>
                <a:latin typeface="Calibri"/>
              </a:defRPr>
            </a:pPr>
            <a:r>
              <a:t>Core Affinity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Running on Core 0 leaves Core 1 free for sensor I/O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0B4D8"/>
                </a:solidFill>
                <a:latin typeface="Calibri"/>
              </a:defRPr>
            </a:pPr>
            <a:r>
              <a:t>No Locks Needed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Single writer / single reader, uint8 stores are atomic on ESP32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Inter-Task Synchronization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512064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Shared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volatile bool isAuthenticated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Written by sensorTask after auth; read by sensorTask loop condition</a:t>
            </a:r>
          </a:p>
          <a:p>
            <a:pPr algn="l">
              <a:spcBef>
                <a:spcPts val="10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volatile int batteryPercentage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Written by batteryMonitorTask (Core 0); read by sensorTask (Core 1)</a:t>
            </a:r>
          </a:p>
          <a:p>
            <a:pPr algn="l">
              <a:spcBef>
                <a:spcPts val="10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volatile bool hmc_present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Set once in setup(); read by sensorTask to decide mag inclusion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512064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Synchronization Patterns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Volatile Keyword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All shared state declared volatile. Prevents compiler from caching</a:t>
            </a:r>
            <a:br/>
            <a:r>
              <a:t>values in registers across task boundaries.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Atomic Writes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uint8 (battery) and bool (auth) writes are atomic on ESP32 (32-bit ARM).</a:t>
            </a:r>
            <a:br/>
            <a:r>
              <a:t>No mutex needed for single-byte stores.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No Mutex / Semaphore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Simplicity tradeoff: each variable has one writer. No deadlock risk,</a:t>
            </a:r>
            <a:br/>
            <a:r>
              <a:t>no priority inversion. Acceptable for this use case.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Single-Writer Rule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Each shared variable has exactly one producing task. sensorTask</a:t>
            </a:r>
            <a:br/>
            <a:r>
              <a:t>never writes batteryPercentage; batteryMonitorTask never reads sensors.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6D6A0"/>
                </a:solidFill>
                <a:latin typeface="Calibri"/>
              </a:defRPr>
            </a:pPr>
            <a:r>
              <a:t>Blocking BT Write as Signal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SerialBT.write() blocks ~0.36 ms at 115200 baud. This natural</a:t>
            </a:r>
            <a:br/>
            <a:r>
              <a:t>pause enforces the 100 Hz cadence without explicit timers.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748"/>
                </a:solidFill>
                <a:latin typeface="Calibri"/>
              </a:defRPr>
            </a:pPr>
            <a:r>
              <a:t>Timing Diagram — 10 ms Packet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▸  Oversampling Loop (1 kHz) — One Iteration = ~1 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82296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I2C</a:t>
            </a:r>
            <a:br/>
            <a:r>
              <a:t>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828800"/>
            <a:ext cx="82296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ADC</a:t>
            </a:r>
            <a:br/>
            <a:r>
              <a:t>Piezo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82296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Jerk</a:t>
            </a:r>
            <a:br/>
            <a:r>
              <a:t>Calc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822960" cy="640080"/>
          </a:xfrm>
          <a:prstGeom prst="roundRect">
            <a:avLst/>
          </a:prstGeom>
          <a:solidFill>
            <a:srgbClr val="E6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Peak</a:t>
            </a:r>
            <a:br/>
            <a:r>
              <a:t>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828800"/>
            <a:ext cx="82296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Gyro</a:t>
            </a:r>
            <a:br/>
            <a:r>
              <a:t>Accum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822960" cy="640080"/>
          </a:xfrm>
          <a:prstGeom prst="roundRect">
            <a:avLst/>
          </a:prstGeom>
          <a:solidFill>
            <a:srgbClr val="8D9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Delay</a:t>
            </a:r>
            <a:br/>
            <a:r>
              <a:t>400µs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828800"/>
            <a:ext cx="82296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I2C</a:t>
            </a:r>
            <a:br/>
            <a:r>
              <a:t>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828800"/>
            <a:ext cx="82296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ADC</a:t>
            </a:r>
            <a:br/>
            <a:r>
              <a:t>Piezo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828800"/>
            <a:ext cx="822960" cy="640080"/>
          </a:xfrm>
          <a:prstGeom prst="roundRect">
            <a:avLst/>
          </a:prstGeom>
          <a:solidFill>
            <a:srgbClr val="8D9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… (x10)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12680" y="1828800"/>
            <a:ext cx="82296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Mag</a:t>
            </a:r>
            <a:br/>
            <a:r>
              <a:t>Read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0" y="1828800"/>
            <a:ext cx="822960" cy="640080"/>
          </a:xfrm>
          <a:prstGeom prst="roundRect">
            <a:avLst/>
          </a:prstGeom>
          <a:solidFill>
            <a:srgbClr val="E6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1901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BT</a:t>
            </a:r>
            <a:br/>
            <a:r>
              <a:t>Send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24360" y="1828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99A7"/>
                </a:solidFill>
                <a:latin typeface="Calibri"/>
              </a:defRPr>
            </a:pPr>
            <a:r>
              <a:t>Next 10 ms cycle...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926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⏱  Timing Breakdown (per oversampling iteration)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83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D1B2A"/>
                </a:solidFill>
                <a:latin typeface="Calibri"/>
              </a:defRPr>
            </a:pPr>
            <a:r>
              <a:t>I2C Burst Read              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~0.4 ms    14 bytes @ 400 kHz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D1B2A"/>
                </a:solidFill>
                <a:latin typeface="Calibri"/>
              </a:defRPr>
            </a:pPr>
            <a:r>
              <a:t>ADC Read                    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~0.1 ms    12-bit, 11 dB attenuation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023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D1B2A"/>
                </a:solidFill>
                <a:latin typeface="Calibri"/>
              </a:defRPr>
            </a:pPr>
            <a:r>
              <a:t>Math (jerk, comparisons)    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&lt; 5 µs    ARM FPU integer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43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D1B2A"/>
                </a:solidFill>
                <a:latin typeface="Calibri"/>
              </a:defRPr>
            </a:pPr>
            <a:r>
              <a:t>delayMicroseconds(400)      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400 µs    Fills remaining time to ~1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663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D1B2A"/>
                </a:solidFill>
                <a:latin typeface="Calibri"/>
              </a:defRPr>
            </a:pPr>
            <a:r>
              <a:t>Total per iteration         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~900 µs    Leaves margin for jitter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983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0D1B2A"/>
                </a:solidFill>
                <a:latin typeface="Calibri"/>
              </a:defRPr>
            </a:pPr>
            <a:r>
              <a:t>10 iterations               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8D99A7"/>
                </a:solidFill>
                <a:latin typeface="Calibri"/>
              </a:defRPr>
            </a:pPr>
            <a:r>
              <a:t>     ~9 ms    Fits within 10 ms SEND_RATE_MS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4114800"/>
            <a:ext cx="43891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4206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DataPacket Composition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57200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▸ header[2]                    0xAA 0xBB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▸ ax, ay, az (3x float)        peak accel m/s²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▸ gx, gy, gz (3x float)        avg gyro rad/s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▸ mag_x, mag_y, mag_z (3x int16) raw QMC5883P LSB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▸ piezo (uint16)               peak ADC value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▸ battery (uint8)              percentage 0-100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▸ checksum (uint8)             XOR of payload bytes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FreeRTOS Concepts Applied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 infinite loop that runs independently. Both sensorTask and batteryMonitorTask are FreeRTOS tasks created with xTaskCreatePinnedToCore().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642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30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Calibri"/>
              </a:defRPr>
            </a:pPr>
            <a:r>
              <a:t>Core Affinity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Tasks are pinned to a specific CPU core (0 or 1). sensorTask runs on Core 1 to avoid Bluetooth stack contention on Core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10642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90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Each task gets its own call stack. sensorTask uses 4096 bytes (deeper due to I2C buffers, SHA-256 context), batteryMonitorTask uses 2048 bytes (lighter).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40"/>
            <a:ext cx="110642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50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E6A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Both tasks run at priority 1. Equal priority on different cores means they execute truly in parallel. If on same core, round-robin.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110642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10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vTaskDelay()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Yields the CPU for a specified time. Used in batteryMonitorTask (2 s) and sensorTask (400 µs inside loop). The task is removed from ready list during delay.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642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971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Calibri"/>
              </a:defRPr>
            </a:pPr>
            <a:r>
              <a:t>Volatile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Keyword telling compiler not to cache shared variables in registers. Essential for isAuthenticated and batteryPercentage which are accessed by multiple tasks.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8640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Design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400" b="1">
                <a:solidFill>
                  <a:srgbClr val="00B4D8"/>
                </a:solidFill>
                <a:latin typeface="Calibri"/>
              </a:defRPr>
            </a:pPr>
            <a:r>
              <a:t>Architecture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Two FreeRTOS tasks on two CPU cores, communicating via volatile shared memory</a:t>
            </a:r>
          </a:p>
          <a:p>
            <a:pPr algn="l">
              <a:spcBef>
                <a:spcPts val="1000"/>
              </a:spcBef>
              <a:defRPr sz="1400" b="1">
                <a:solidFill>
                  <a:srgbClr val="00B4D8"/>
                </a:solidFill>
                <a:latin typeface="Calibri"/>
              </a:defRPr>
            </a:pPr>
            <a:r>
              <a:t>Real-Time Guarantee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1 kHz oversampling with deterministic timing via delayMicroseconds + vTaskDelay</a:t>
            </a:r>
          </a:p>
          <a:p>
            <a:pPr algn="l">
              <a:spcBef>
                <a:spcPts val="1000"/>
              </a:spcBef>
              <a:defRPr sz="1400" b="1">
                <a:solidFill>
                  <a:srgbClr val="00B4D8"/>
                </a:solidFill>
                <a:latin typeface="Calibri"/>
              </a:defRPr>
            </a:pPr>
            <a:r>
              <a:t>Resource Efficiency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Minimal stack usage (6 KB total), no mutexes, no dynamic allocation in hot path</a:t>
            </a:r>
          </a:p>
          <a:p>
            <a:pPr algn="l">
              <a:spcBef>
                <a:spcPts val="1000"/>
              </a:spcBef>
              <a:defRPr sz="1400" b="1">
                <a:solidFill>
                  <a:srgbClr val="00B4D8"/>
                </a:solidFill>
                <a:latin typeface="Calibri"/>
              </a:defRPr>
            </a:pPr>
            <a:r>
              <a:t>Scalability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Task-based design makes it easy to add new sensors or processing stages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03520" cy="5120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FreeRTOS APIs &amp;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Key FreeRTOS APIs Used 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xTaskCreatePinnedToCore() — create task with core affinity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vTaskDelay() — time-based task yield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volatile keyword — cross-task variable safety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Infinite for(;;) loops — standard RTOS task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99A7"/>
                </a:solidFill>
                <a:latin typeface="Calibri"/>
              </a:defRPr>
            </a:pPr>
            <a:r>
              <a:t>STASYS — ESP32 FreeRTOS Firmware  |  2 tasks  |  2 cores  |  100 Hz streaming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